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image" Target="../media/image-3-2.jpg"/><Relationship Id="rId3" Type="http://schemas.openxmlformats.org/officeDocument/2006/relationships/image" Target="../media/image-3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91440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spc="8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AEGIS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731520" y="16916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modern audit platform built for Urban Cooperative Banks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31520" y="2377440"/>
            <a:ext cx="1097280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6517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4-Week Strategic Roadmap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731520" y="32004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104 requirements shipped  →  Pilot launch ahead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438912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Nexly Advisory  |  February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We Are Today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platform shipped — 104 audit requirements across 18 functional modules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417320"/>
            <a:ext cx="182880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417320"/>
            <a:ext cx="182880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55448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104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731520" y="219456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88920" y="1417320"/>
            <a:ext cx="182880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88920" y="1417320"/>
            <a:ext cx="182880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0" name="Text 8"/>
          <p:cNvSpPr/>
          <p:nvPr/>
        </p:nvSpPr>
        <p:spPr>
          <a:xfrm>
            <a:off x="2788920" y="155448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3B82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2788920" y="219456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846320" y="1417320"/>
            <a:ext cx="182880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846320" y="1417320"/>
            <a:ext cx="1828800" cy="54864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4846320" y="155448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568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4846320" y="219456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Examination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903720" y="1417320"/>
            <a:ext cx="182880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903720" y="1417320"/>
            <a:ext cx="1828800" cy="54864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18" name="Text 16"/>
          <p:cNvSpPr/>
          <p:nvPr/>
        </p:nvSpPr>
        <p:spPr>
          <a:xfrm>
            <a:off x="6903720" y="155448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D4E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17</a:t>
            </a:r>
            <a:endParaRPr lang="en-US" sz="4000" dirty="0"/>
          </a:p>
        </p:txBody>
      </p:sp>
      <p:sp>
        <p:nvSpPr>
          <p:cNvPr id="19" name="Text 17"/>
          <p:cNvSpPr/>
          <p:nvPr/>
        </p:nvSpPr>
        <p:spPr>
          <a:xfrm>
            <a:off x="6903720" y="219456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Roles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(CEO to Auditor)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31520" y="31546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for RBI RBIA framework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31520" y="350215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19-parameter risk assessment model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31520" y="3849624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Section-based audit execution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31520" y="4197096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4-stage compliance lifecycle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846320" y="31546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PDF + Excel reports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846320" y="350215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Role-specific dashboards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846320" y="3849624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Multi-language (EN/HI/MR/GU)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846320" y="4197096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Cloud-hosted, production-ready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Platform Preview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731520"/>
            <a:ext cx="731520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841248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screenshots from the AEGIS platform — production-deployed at aegis.nexlyadvisory.com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234440"/>
            <a:ext cx="2743200" cy="3246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6" name="Image 0" descr="/sessions/relaxed-eloquent-galileo/ss-dashboard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325880"/>
            <a:ext cx="2560320" cy="152704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11480" y="1325880"/>
            <a:ext cx="2560320" cy="1527048"/>
          </a:xfrm>
          <a:prstGeom prst="rect">
            <a:avLst/>
          </a:prstGeom>
          <a:ln w="9525">
            <a:solidFill>
              <a:srgbClr val="E2E8F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29718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Executive Dashboard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57200" y="32461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score, audit coverage, risk indicators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200400" y="1234440"/>
            <a:ext cx="2743200" cy="3246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11" name="Image 1" descr="/sessions/relaxed-eloquent-galileo/ss-findings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0" y="1325880"/>
            <a:ext cx="2560320" cy="1527048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3291840" y="1325880"/>
            <a:ext cx="2560320" cy="1527048"/>
          </a:xfrm>
          <a:prstGeom prst="rect">
            <a:avLst/>
          </a:prstGeom>
          <a:ln w="9525">
            <a:solidFill>
              <a:srgbClr val="E2E8F0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3337560" y="29718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Audit Findings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3337560" y="32461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Observations with severity, status, branch tracking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6080760" y="1234440"/>
            <a:ext cx="2743200" cy="3246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16" name="Image 2" descr="/sessions/relaxed-eloquent-galileo/ss-analytics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325880"/>
            <a:ext cx="2560320" cy="1527048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6172200" y="1325880"/>
            <a:ext cx="2560320" cy="1527048"/>
          </a:xfrm>
          <a:prstGeom prst="rect">
            <a:avLst/>
          </a:prstGeom>
          <a:ln w="9525">
            <a:solidFill>
              <a:srgbClr val="E2E8F0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6217920" y="29718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Analytics &amp; Risk Heatmap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6217920" y="32461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Branch-level RAM scores and compliance status</a:t>
            </a:r>
            <a:endParaRPr lang="en-US" sz="1050" dirty="0"/>
          </a:p>
        </p:txBody>
      </p:sp>
      <p:sp>
        <p:nvSpPr>
          <p:cNvPr id="20" name="Text 15"/>
          <p:cNvSpPr/>
          <p:nvPr/>
        </p:nvSpPr>
        <p:spPr>
          <a:xfrm>
            <a:off x="457200" y="4617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Cloud-native  •  Multi-tenant  •  4 Languages  •  17 Role-based views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Pilot Readiness Plan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enhancements across 5 phases to prepare for UCB pilot launch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325880"/>
            <a:ext cx="7680960" cy="3840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325880"/>
            <a:ext cx="64008" cy="384048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32588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 — Regulatory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3566160" y="132588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gaps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572000" y="132588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enforcement, escalation routing, RBI pack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731520" y="1828800"/>
            <a:ext cx="7680960" cy="3840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31520" y="1828800"/>
            <a:ext cx="64008" cy="38404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182880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6 — Specialized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3566160" y="182880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gaps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572000" y="182880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checklist completion, vendor risk, CBS params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31520" y="2331720"/>
            <a:ext cx="7680960" cy="3840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31520" y="2331720"/>
            <a:ext cx="64008" cy="38404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6" name="Text 14"/>
          <p:cNvSpPr/>
          <p:nvPr/>
        </p:nvSpPr>
        <p:spPr>
          <a:xfrm>
            <a:off x="1005840" y="233172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— GRC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3566160" y="233172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gaps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572000" y="233172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program exec, board view, QA standards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31520" y="2834640"/>
            <a:ext cx="7680960" cy="3840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31520" y="2834640"/>
            <a:ext cx="64008" cy="38404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1" name="Text 19"/>
          <p:cNvSpPr/>
          <p:nvPr/>
        </p:nvSpPr>
        <p:spPr>
          <a:xfrm>
            <a:off x="1005840" y="283464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— Reporting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3566160" y="283464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gaps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572000" y="283464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tracking model, calendar drag-drop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731520" y="3337560"/>
            <a:ext cx="7680960" cy="3840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31520" y="3337560"/>
            <a:ext cx="64008" cy="38404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6" name="Text 24"/>
          <p:cNvSpPr/>
          <p:nvPr/>
        </p:nvSpPr>
        <p:spPr>
          <a:xfrm>
            <a:off x="1005840" y="333756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— Core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3566160" y="333756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gap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572000" y="333756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management UI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731520" y="393192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Pre-Pilot Configuration Checklist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731520" y="4297680"/>
            <a:ext cx="7680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delivery — upgrade to production sending for pilot users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31520" y="4480560"/>
            <a:ext cx="7680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Demonstration data — populate all screens with realistic sample data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31520" y="4663440"/>
            <a:ext cx="7680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accuracy — verify all KPI calculations display correctly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31520" y="4846320"/>
            <a:ext cx="7680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automation — include all database components in release pipeline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731520" y="5029200"/>
            <a:ext cx="7680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 completeness — add landing pages for all sections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4-Week Roadmap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/ Next / Later — prioritized by pilot readiness impact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2651760" cy="3429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325880"/>
            <a:ext cx="2651760" cy="5029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32588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NOW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783080" y="132588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15240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1-2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19659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Populate demonstration data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231343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dashboard calculations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2660904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dashboard deployment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3008376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section landing pages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335584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email notifications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" y="37033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Zone-based audit workflow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0080" y="405079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lifecycle tracking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337560" y="1325880"/>
            <a:ext cx="2651760" cy="3429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337560" y="1325880"/>
            <a:ext cx="2651760" cy="5029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0" y="132588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NEXT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617720" y="132588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15240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474720" y="19659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enforcement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474720" y="231343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test recording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474720" y="2660904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checklist completion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474720" y="3008376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consolidated view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474720" y="335584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Auto-escalation routing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172200" y="1325880"/>
            <a:ext cx="2651760" cy="3429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172200" y="1325880"/>
            <a:ext cx="2651760" cy="5029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6" name="Text 24"/>
          <p:cNvSpPr/>
          <p:nvPr/>
        </p:nvSpPr>
        <p:spPr>
          <a:xfrm>
            <a:off x="6309360" y="132588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LATER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7452360" y="132588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15240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309360" y="19659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IIA self-assessment setup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309360" y="231343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RBI inspection readiness pack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309360" y="2660904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risk assessments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309360" y="3008376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CBS audit parameters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309360" y="335584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 security checklist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309360" y="37033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calendar enhancements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731520" y="470916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Prioritization: Operational blockers first → pilot-critical gaps → nice-to-have completeness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Week 1–2: Foundation &amp; Pilot Blockers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731520" y="731520"/>
            <a:ext cx="731520" cy="3657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86868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A demo-ready platform where every page works with real data and no errors</a:t>
            </a:r>
            <a:endParaRPr lang="en-US" sz="1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822960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2743200"/>
                <a:gridCol w="731520"/>
                <a:gridCol w="91440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Impact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Effort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Populate platform with complete demonstration data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pages show realistic data instead of empty screens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2-4h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Started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Correct all dashboard KPI calculations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Dashboard shows accurate numbers across all widgets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2-3h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Started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Automate deployment of all dashboard components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Deployments work end-to-end without manual steps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1-2h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Started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 section landing pages for audit and admin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Smooth navigation across all platform sections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1-2h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Started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Enable email notifications for pilot users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Assignment alerts and reminders reach pilot users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1-2h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Started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Zone-based audit workflow and branch grouping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ZAC workflow operational, branch→zone grouping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4-6h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Started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Audit report lifecycle tracking with download history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audit trail of report generation and access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3-4h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Started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4407408"/>
            <a:ext cx="2606040" cy="411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457200" y="4407408"/>
            <a:ext cx="54864" cy="4114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8" name="Text 5"/>
          <p:cNvSpPr/>
          <p:nvPr/>
        </p:nvSpPr>
        <p:spPr>
          <a:xfrm>
            <a:off x="594360" y="4407408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645920" y="4407408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Tasks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246120" y="4407408"/>
            <a:ext cx="2606040" cy="411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246120" y="4407408"/>
            <a:ext cx="54864" cy="4114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2" name="Text 9"/>
          <p:cNvSpPr/>
          <p:nvPr/>
        </p:nvSpPr>
        <p:spPr>
          <a:xfrm>
            <a:off x="3383280" y="4407408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82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16–24h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434840" y="4407408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Est. Effort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6035040" y="4407408"/>
            <a:ext cx="2606040" cy="411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035040" y="4407408"/>
            <a:ext cx="54864" cy="41148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6" name="Text 13"/>
          <p:cNvSpPr/>
          <p:nvPr/>
        </p:nvSpPr>
        <p:spPr>
          <a:xfrm>
            <a:off x="6172200" y="4407408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F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P0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7223760" y="4407408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 — Blocking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Week 3: Roles &amp; Workflows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731520" y="731520"/>
            <a:ext cx="731520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86868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All 17 roles have correct scoped access; key audit workflows are end-to-end functional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8229600" cy="914400"/>
        </p:xfrm>
        <a:graphic>
          <a:graphicData uri="http://schemas.openxmlformats.org/drawingml/2006/table">
            <a:tbl>
              <a:tblPr/>
              <a:tblGrid>
                <a:gridCol w="3474720"/>
                <a:gridCol w="3291840"/>
                <a:gridCol w="914400"/>
              </a:tblGrid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Impact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Effort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 Auditor: restrict access to IT audit modules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 auditors see only IS-related modules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3-4h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 Head: dedicated risk management dashboards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 Head role has dedicated risk views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2-3h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System Admin: separate admin controls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 role distinct from audit permissions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3-4h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Audit test recording: capture results inline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Auditors can record test results inline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4-6h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Board-level consolidated issue summary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Board sees cross-source issue summary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3-4h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Auto-escalation: critical findings to Head Office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Critical findings auto-route to HO/IAD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4-6h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4069080"/>
            <a:ext cx="8229600" cy="384048"/>
          </a:xfrm>
          <a:prstGeom prst="rect">
            <a:avLst/>
          </a:prstGeom>
          <a:solidFill>
            <a:srgbClr val="EFF6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457200" y="4069080"/>
            <a:ext cx="54864" cy="38404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8" name="Text 5"/>
          <p:cNvSpPr/>
          <p:nvPr/>
        </p:nvSpPr>
        <p:spPr>
          <a:xfrm>
            <a:off x="731520" y="4069080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review: CCO and Board Observer role access — may need expansion similar to the CEO role update.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57200" y="4544568"/>
            <a:ext cx="2606040" cy="3840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7200" y="4544568"/>
            <a:ext cx="54864" cy="38404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1" name="Text 8"/>
          <p:cNvSpPr/>
          <p:nvPr/>
        </p:nvSpPr>
        <p:spPr>
          <a:xfrm>
            <a:off x="594360" y="4544568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463040" y="4544568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3246120" y="4544568"/>
            <a:ext cx="2606040" cy="3840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246120" y="4544568"/>
            <a:ext cx="54864" cy="38404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5" name="Text 12"/>
          <p:cNvSpPr/>
          <p:nvPr/>
        </p:nvSpPr>
        <p:spPr>
          <a:xfrm>
            <a:off x="3383280" y="4544568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82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19–27h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4251960" y="4544568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Est. Effort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035040" y="4544568"/>
            <a:ext cx="2606040" cy="3840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6035040" y="4544568"/>
            <a:ext cx="54864" cy="38404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9" name="Text 16"/>
          <p:cNvSpPr/>
          <p:nvPr/>
        </p:nvSpPr>
        <p:spPr>
          <a:xfrm>
            <a:off x="6172200" y="4544568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P1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7040880" y="4544568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 — High Priority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Week 4: Regulatory Completeness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731520" y="731520"/>
            <a:ext cx="73152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86868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Close remaining gaps for 100% RBI compliance coverage</a:t>
            </a:r>
            <a:endParaRPr lang="en-US" sz="13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8229600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3108960"/>
                <a:gridCol w="914400"/>
              </a:tblGrid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Impact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Effort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Quality assurance: IIA self-assessment questionnaires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Quality assessment can be conducted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3-4h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One-click RBI inspection readiness pack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Inspection readiness in 1 click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4-6h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Vendor risk assessments: fix update workflow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Vendor assessments updateable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1-2h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CBS audit workflow: complete parameter coverage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CBS audit workflow functional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2-3h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Cyber security checklist: full 122-question coverage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122-question coverage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2-3h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Audit calendar: drag-drop with recurring events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Better calendar UX for audit planning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4-6h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 acceptance: formal auditable sign-off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 acceptance formally auditable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2-3h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Board review calendar with RBI regulatory dates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Pre-populated regulatory calendar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1-2h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Investment monitoring: automated deposit cap tracking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Automated cap monitoring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2-3h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 audit checklists: end-to-end completion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 audits end-to-end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2-3h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4645152"/>
            <a:ext cx="2606040" cy="3840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457200" y="4645152"/>
            <a:ext cx="54864" cy="38404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8" name="Text 5"/>
          <p:cNvSpPr/>
          <p:nvPr/>
        </p:nvSpPr>
        <p:spPr>
          <a:xfrm>
            <a:off x="594360" y="464515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645920" y="4645152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246120" y="4645152"/>
            <a:ext cx="2606040" cy="3840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246120" y="4645152"/>
            <a:ext cx="54864" cy="38404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2" name="Text 9"/>
          <p:cNvSpPr/>
          <p:nvPr/>
        </p:nvSpPr>
        <p:spPr>
          <a:xfrm>
            <a:off x="3383280" y="464515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24–37h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434840" y="4645152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Est. Effort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6035040" y="4645152"/>
            <a:ext cx="2606040" cy="3840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035040" y="4645152"/>
            <a:ext cx="54864" cy="38404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6" name="Text 13"/>
          <p:cNvSpPr/>
          <p:nvPr/>
        </p:nvSpPr>
        <p:spPr>
          <a:xfrm>
            <a:off x="6172200" y="464515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82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P2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7223760" y="4645152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 — Completeness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Pilot Strategy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sandbox demo to paying customer in 3 stages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265176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371600"/>
            <a:ext cx="265176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5087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Pilot A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18288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Sandbox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21488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5-8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691640" y="21488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2468880"/>
            <a:ext cx="2377440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60604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tenant with full data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292608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walkthrough sessions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324612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collection &amp; iteration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337560" y="1371600"/>
            <a:ext cx="265176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337560" y="1371600"/>
            <a:ext cx="265176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6" name="Text 14"/>
          <p:cNvSpPr/>
          <p:nvPr/>
        </p:nvSpPr>
        <p:spPr>
          <a:xfrm>
            <a:off x="3474720" y="15087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B82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Pilot B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3474720" y="18288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Data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474720" y="21488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9-16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26280" y="21488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₹50K deposit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474720" y="2468880"/>
            <a:ext cx="2377440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1" name="Text 19"/>
          <p:cNvSpPr/>
          <p:nvPr/>
        </p:nvSpPr>
        <p:spPr>
          <a:xfrm>
            <a:off x="3474720" y="260604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tenant onboarding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474720" y="292608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data migration support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474720" y="324612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monitoring &amp; escalation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172200" y="1371600"/>
            <a:ext cx="265176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172200" y="1371600"/>
            <a:ext cx="2651760" cy="54864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6" name="Text 24"/>
          <p:cNvSpPr/>
          <p:nvPr/>
        </p:nvSpPr>
        <p:spPr>
          <a:xfrm>
            <a:off x="6309360" y="15087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Paid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6309360" y="18288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309360" y="21488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5+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360920" y="21488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₹3-4L/year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309360" y="2468880"/>
            <a:ext cx="2377440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1" name="Text 29"/>
          <p:cNvSpPr/>
          <p:nvPr/>
        </p:nvSpPr>
        <p:spPr>
          <a:xfrm>
            <a:off x="6309360" y="260604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platform access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309360" y="292608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notifications active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309360" y="324612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support channel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3063240" y="25603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94A3B8"/>
                </a:solidFill>
              </a:rPr>
              <a:t>→</a:t>
            </a:r>
            <a:endParaRPr lang="en-US" sz="2400" dirty="0"/>
          </a:p>
        </p:txBody>
      </p:sp>
      <p:sp>
        <p:nvSpPr>
          <p:cNvPr id="35" name="Text 33"/>
          <p:cNvSpPr/>
          <p:nvPr/>
        </p:nvSpPr>
        <p:spPr>
          <a:xfrm>
            <a:off x="5897880" y="25603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94A3B8"/>
                </a:solidFill>
              </a:rPr>
              <a:t>→</a:t>
            </a:r>
            <a:endParaRPr lang="en-US" sz="2400" dirty="0"/>
          </a:p>
        </p:txBody>
      </p:sp>
      <p:sp>
        <p:nvSpPr>
          <p:cNvPr id="36" name="Text 34"/>
          <p:cNvSpPr/>
          <p:nvPr/>
        </p:nvSpPr>
        <p:spPr>
          <a:xfrm>
            <a:off x="731520" y="4754880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Indicative pricing, subject to final packaging and bank size.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Risks &amp; Dependencies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31520" y="77724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Identified risks with impact assessment and mitigation plans</a:t>
            </a:r>
            <a:endParaRPr lang="en-US" sz="13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43000"/>
          <a:ext cx="82296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731520"/>
                <a:gridCol w="466344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Impact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Mitigation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Email delivery service approval delay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Apply immediately; fallback to alternative provider if &gt;2 weeks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Team capacity for 4-week timeline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AI-assisted development; ruthless prioritization of pilot-critical items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SSL certificate renewal (May 2026)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Auto-renewal configured; verification scheduled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Demonstration data needs refresh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Refresh before any demo; automate in deployment pipeline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Expanding automated test coverage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Automated end-to-end testing for the complete audit workflow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CBS integration deferred to post-pilot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 (now)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 data entry sufficient for pilot; CBS API integration post-pilot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4480560"/>
            <a:ext cx="8229600" cy="548640"/>
          </a:xfrm>
          <a:prstGeom prst="rect">
            <a:avLst/>
          </a:prstGeom>
          <a:solidFill>
            <a:srgbClr val="FFF7ED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457200" y="4480560"/>
            <a:ext cx="54864" cy="5486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7" name="Text 4"/>
          <p:cNvSpPr/>
          <p:nvPr/>
        </p:nvSpPr>
        <p:spPr>
          <a:xfrm>
            <a:off x="731520" y="44805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dependency: </a:t>
            </a:r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A requires all Week 1-2 items complete + at least 1 target UCB identified. Begin UCB outreach in Week 2 to align with Week 5 pilot start.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Success Metrics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86868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know the platform is ready for Pilot A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463040"/>
            <a:ext cx="3657600" cy="1325880"/>
          </a:xfrm>
          <a:prstGeom prst="rect">
            <a:avLst/>
          </a:prstGeom>
          <a:solidFill>
            <a:srgbClr val="141B45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155448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914400" y="20116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Incomplete screens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22860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workflow screen populated with actionable data from Day 1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754880" y="1463040"/>
            <a:ext cx="3657600" cy="1325880"/>
          </a:xfrm>
          <a:prstGeom prst="rect">
            <a:avLst/>
          </a:prstGeom>
          <a:solidFill>
            <a:srgbClr val="141B45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937760" y="155448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4937760" y="20116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Calculation errors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937760" y="22860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dashboards and analytics display verified figures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31520" y="3063240"/>
            <a:ext cx="3657600" cy="1325880"/>
          </a:xfrm>
          <a:prstGeom prst="rect">
            <a:avLst/>
          </a:prstGeom>
          <a:solidFill>
            <a:srgbClr val="141B45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14400" y="315468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18→0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914400" y="36118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enhancements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14400" y="38862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104 audit requirements verified and functional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754880" y="3063240"/>
            <a:ext cx="3657600" cy="1325880"/>
          </a:xfrm>
          <a:prstGeom prst="rect">
            <a:avLst/>
          </a:prstGeom>
          <a:solidFill>
            <a:srgbClr val="141B45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937760" y="315468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100%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4937760" y="36118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lifecycle coverage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937760" y="38862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→ plan audit → execute → record findings → generate report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731520" y="457200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AEGIS — Target: Pilot-Ready by Q1 2026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AEGIS v4.0 — 4-Week Strategic Roadmap</dc:title>
  <dc:subject>PptxGenJS Presentation</dc:subject>
  <dc:creator>AEGIS / Nexly Advisory</dc:creator>
  <cp:lastModifiedBy>AEGIS / Nexly Advisory</cp:lastModifiedBy>
  <cp:revision>1</cp:revision>
  <dcterms:created xsi:type="dcterms:W3CDTF">2026-02-21T11:37:02Z</dcterms:created>
  <dcterms:modified xsi:type="dcterms:W3CDTF">2026-02-21T11:37:02Z</dcterms:modified>
</cp:coreProperties>
</file>